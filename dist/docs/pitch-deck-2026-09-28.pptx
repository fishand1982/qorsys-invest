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orsys_v032/qorsys-presentation-studio-v0.3.2/qorsys-source/showcase/assets/images/hero.png">    </p:cNvPr>
          <p:cNvPicPr>
            <a:picLocks noChangeAspect="1"/>
          </p:cNvPicPr>
          <p:nvPr/>
        </p:nvPicPr>
        <p:blipFill>
          <a:blip r:embed="rId1"/>
          <a:srcRect l="0" r="197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40142" cy="6858000"/>
          </a:xfrm>
          <a:prstGeom prst="rect">
            <a:avLst/>
          </a:prstGeom>
          <a:solidFill>
            <a:srgbClr val="FCFDFB">
              <a:alpha val="95000"/>
            </a:srgbClr>
          </a:solidFill>
          <a:ln w="12700">
            <a:solidFill>
              <a:srgbClr val="FCFDFB">
                <a:alpha val="0"/>
              </a:srgbClr>
            </a:solidFill>
            <a:prstDash val="solid"/>
          </a:ln>
        </p:spPr>
      </p:sp>
      <p:pic>
        <p:nvPicPr>
          <p:cNvPr id="4" name="Image 1" descr="/mnt/data/qorsys_v032/qorsys-presentation-studio-v0.3.2/qorsys-source/showcase/assets/logos/korsis-horizontal-tagline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10332720" y="548640"/>
            <a:ext cx="128016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828800"/>
            <a:ext cx="11064240" cy="58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8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QORSYS для инвестора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48640" y="257911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961"/>
                </a:solidFill>
              </a:rPr>
              <a:t>Операционная система бизнеса · due-diligence view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961"/>
                </a:solidFill>
              </a:rPr>
              <a:t>Инвестиционное обсуждение  -  28.09.2026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138160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372F">
                    <a:alpha val="72000"/>
                  </a:srgbClr>
                </a:solidFill>
              </a:rPr>
              <a:t>Иллюстративное изображение · QORSYS Design System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нужно понять для следующего шага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17904"/>
            <a:ext cx="1280160" cy="41148"/>
          </a:xfrm>
          <a:prstGeom prst="rect">
            <a:avLst/>
          </a:prstGeom>
          <a:solidFill>
            <a:srgbClr val="A24F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372F"/>
                </a:solidFill>
              </a:rPr>
              <a:t>Проблема и механизм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07040" y="19202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372F">
                    <a:alpha val="60000"/>
                  </a:srgbClr>
                </a:solidFill>
              </a:rPr>
              <a:t>3–5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372F"/>
                </a:solidFill>
              </a:rPr>
              <a:t>Текущее состояние и экономика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07040" y="23957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372F">
                    <a:alpha val="60000"/>
                  </a:srgbClr>
                </a:solidFill>
              </a:rPr>
              <a:t>6–8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372F"/>
                </a:solidFill>
              </a:rPr>
              <a:t>План и решение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0" y="287121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372F">
                    <a:alpha val="60000"/>
                  </a:srgbClr>
                </a:solidFill>
              </a:rPr>
              <a:t>9–10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372F"/>
                </a:solidFill>
              </a:rPr>
              <a:t>Приложение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07040" y="334670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372F">
                    <a:alpha val="60000"/>
                  </a:srgbClr>
                </a:solidFill>
              </a:rPr>
              <a:t>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orsys_v032/qorsys-presentation-studio-v0.3.2/qorsys-source/showcase/assets/images/architecture.png">    </p:cNvPr>
          <p:cNvPicPr>
            <a:picLocks noChangeAspect="1"/>
          </p:cNvPicPr>
          <p:nvPr/>
        </p:nvPicPr>
        <p:blipFill>
          <a:blip r:embed="rId1"/>
          <a:srcRect l="0" r="197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8372F">
              <a:alpha val="72000"/>
            </a:srgbClr>
          </a:solidFill>
          <a:ln w="12700">
            <a:solidFill>
              <a:srgbClr val="08372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605278"/>
            <a:ext cx="11064240" cy="164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Рост систем не гарантирует собственнику целостную картину работы.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138160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72000"/>
                  </a:srgbClr>
                </a:solidFill>
              </a:rPr>
              <a:t>Иллюстративное изображение · QORSYS Design System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orsys_v032/qorsys-presentation-studio-v0.3.2/qorsys-source/showcase/assets/images/workplace.png">    </p:cNvPr>
          <p:cNvPicPr>
            <a:picLocks noChangeAspect="1"/>
          </p:cNvPicPr>
          <p:nvPr/>
        </p:nvPicPr>
        <p:blipFill>
          <a:blip r:embed="rId1"/>
          <a:srcRect l="197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8372F">
              <a:alpha val="72000"/>
            </a:srgbClr>
          </a:solidFill>
          <a:ln w="12700">
            <a:solidFill>
              <a:srgbClr val="08372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39848"/>
            <a:ext cx="11064240" cy="217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QORSYS — операционная система бизнеса, которая связывает фактическую работу с экономикой и решением.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138160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72000"/>
                  </a:srgbClr>
                </a:solidFill>
              </a:rPr>
              <a:t>Иллюстративное изображение · QORSYS Design System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Факт → экономика → изменение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17904"/>
            <a:ext cx="1280160" cy="41148"/>
          </a:xfrm>
          <a:prstGeom prst="rect">
            <a:avLst/>
          </a:prstGeom>
          <a:solidFill>
            <a:srgbClr val="A24F4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A24F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72F"/>
                </a:solidFill>
              </a:rPr>
              <a:t>Наблюдать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33223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372F"/>
                </a:solidFill>
              </a:rPr>
              <a:t>Восстановить фактические действия, передачи и исключения.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9600" y="2103120"/>
            <a:ext cx="640080" cy="640080"/>
          </a:xfrm>
          <a:prstGeom prst="ellipse">
            <a:avLst/>
          </a:prstGeom>
          <a:solidFill>
            <a:srgbClr val="A24F43"/>
          </a:solidFill>
          <a:ln/>
        </p:spPr>
      </p:sp>
      <p:sp>
        <p:nvSpPr>
          <p:cNvPr id="9" name="Text 7"/>
          <p:cNvSpPr/>
          <p:nvPr/>
        </p:nvSpPr>
        <p:spPr>
          <a:xfrm>
            <a:off x="4419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19600" y="2926080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72F"/>
                </a:solidFill>
              </a:rPr>
              <a:t>Решить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19600" y="3474720"/>
            <a:ext cx="33223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372F"/>
                </a:solidFill>
              </a:rPr>
              <a:t>Связать работу со стоимостью и выбрать, что менять.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90560" y="2103120"/>
            <a:ext cx="640080" cy="640080"/>
          </a:xfrm>
          <a:prstGeom prst="ellipse">
            <a:avLst/>
          </a:prstGeom>
          <a:solidFill>
            <a:srgbClr val="A24F43"/>
          </a:solidFill>
          <a:ln/>
        </p:spPr>
      </p:sp>
      <p:sp>
        <p:nvSpPr>
          <p:cNvPr id="13" name="Text 11"/>
          <p:cNvSpPr/>
          <p:nvPr/>
        </p:nvSpPr>
        <p:spPr>
          <a:xfrm>
            <a:off x="82905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90560" y="2926080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72F"/>
                </a:solidFill>
              </a:rPr>
              <a:t>Доказать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90560" y="3474720"/>
            <a:ext cx="33223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372F"/>
                </a:solidFill>
              </a:rPr>
              <a:t>Исполнить изменение и проверить эффект относительно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уже зафиксировано, а что ещё требует рынка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17904"/>
            <a:ext cx="1280160" cy="41148"/>
          </a:xfrm>
          <a:prstGeom prst="rect">
            <a:avLst/>
          </a:prstGeom>
          <a:solidFill>
            <a:srgbClr val="A24F43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Слой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837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837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Identity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утвержден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D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Positioning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v1, проверяется рынком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Messaging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v1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D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Evidence base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формируется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Customer interviews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нужно накопить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D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42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372F">
                    <a:alpha val="70000"/>
                  </a:srgbClr>
                </a:solidFill>
              </a:rPr>
              <a:t>Brand Core сам разделяет утверждённое ядро и рыночные гипотезы; это снижает риск выдавать незрелые тезисы за факт.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Экономический эффект считается только после baseline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17904"/>
            <a:ext cx="1280160" cy="41148"/>
          </a:xfrm>
          <a:prstGeom prst="rect">
            <a:avLst/>
          </a:prstGeom>
          <a:solidFill>
            <a:srgbClr val="A24F43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Этап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837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Что означает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837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согласованный исходный уровень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D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Резерв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возможность изменить процесс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Высвобождённая мощность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ещё не экономия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D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Фактическая экономия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372F"/>
                          </a:solidFill>
                        </a:rPr>
                        <a:t>расход устранён или предотвращён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22976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372F">
                    <a:alpha val="70000"/>
                  </a:srgbClr>
                </a:solidFill>
              </a:rPr>
              <a:t>Так QORSYS отделяет возможность улучшения от результата, который реально изменил расход или другой согласованный экономический показатель.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Инвестиционная картина: активы и незакрытые доказательства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9504"/>
            <a:ext cx="1280160" cy="41148"/>
          </a:xfrm>
          <a:prstGeom prst="rect">
            <a:avLst/>
          </a:prstGeom>
          <a:solidFill>
            <a:srgbClr val="A24F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53035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8372F"/>
                </a:solidFill>
              </a:rPr>
              <a:t>Есть: Brand Core, продуктовая архитектура, коммерческий вход через аудит.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8372F"/>
                </a:solidFill>
              </a:rPr>
              <a:t>Есть: дисциплина baseline → изменение → подтверждённый эффект.</a:t>
            </a:r>
            <a:endParaRPr lang="en-US" sz="1600" dirty="0"/>
          </a:p>
        </p:txBody>
      </p:sp>
      <p:pic>
        <p:nvPicPr>
          <p:cNvPr id="5" name="Image 0" descr="/mnt/data/qorsys_v032/qorsys-presentation-studio-v0.3.2/qorsys-source/showcase/assets/images/interior.png">    </p:cNvPr>
          <p:cNvPicPr>
            <a:picLocks noChangeAspect="1"/>
          </p:cNvPicPr>
          <p:nvPr/>
        </p:nvPicPr>
        <p:blipFill>
          <a:blip r:embed="rId1"/>
          <a:srcRect l="1997" r="1997" t="0" b="0"/>
          <a:stretch/>
        </p:blipFill>
        <p:spPr>
          <a:xfrm>
            <a:off x="6309360" y="1920240"/>
            <a:ext cx="530352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372F">
                    <a:alpha val="72000"/>
                  </a:srgbClr>
                </a:solidFill>
              </a:rPr>
              <a:t>Иллюстративное изображение · QORSYS Design System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5522976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372F">
                    <a:alpha val="70000"/>
                  </a:srgbClr>
                </a:solidFill>
              </a:rPr>
              <a:t>Инвестиционная привлекательность здесь зависит не от презентационной цифры рынка, а от способности превратить метод в повторяемую коммерческую систему.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должно быть доказано последовательно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17904"/>
            <a:ext cx="1280160" cy="41148"/>
          </a:xfrm>
          <a:prstGeom prst="rect">
            <a:avLst/>
          </a:prstGeom>
          <a:solidFill>
            <a:srgbClr val="A24F4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0"/>
            <a:ext cx="11064240" cy="27432"/>
          </a:xfrm>
          <a:prstGeom prst="rect">
            <a:avLst/>
          </a:prstGeom>
          <a:solidFill>
            <a:srgbClr val="F5F7F4"/>
          </a:solidFill>
          <a:ln/>
        </p:spPr>
      </p:sp>
      <p:sp>
        <p:nvSpPr>
          <p:cNvPr id="5" name="Shape 3"/>
          <p:cNvSpPr/>
          <p:nvPr/>
        </p:nvSpPr>
        <p:spPr>
          <a:xfrm>
            <a:off x="1849374" y="3131820"/>
            <a:ext cx="164592" cy="164592"/>
          </a:xfrm>
          <a:prstGeom prst="ellipse">
            <a:avLst/>
          </a:prstGeom>
          <a:solidFill>
            <a:srgbClr val="A24F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372F"/>
                </a:solidFill>
              </a:rPr>
              <a:t>Сейчас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276606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372F"/>
                </a:solidFill>
              </a:rPr>
              <a:t>зафиксировать коммерческий контур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5434" y="3131820"/>
            <a:ext cx="164592" cy="164592"/>
          </a:xfrm>
          <a:prstGeom prst="ellipse">
            <a:avLst/>
          </a:prstGeom>
          <a:solidFill>
            <a:srgbClr val="A24F43"/>
          </a:solidFill>
          <a:ln/>
        </p:spPr>
      </p:sp>
      <p:sp>
        <p:nvSpPr>
          <p:cNvPr id="9" name="Text 7"/>
          <p:cNvSpPr/>
          <p:nvPr/>
        </p:nvSpPr>
        <p:spPr>
          <a:xfrm>
            <a:off x="3314700" y="251460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372F"/>
                </a:solidFill>
              </a:rPr>
              <a:t>Далее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4700" y="3456432"/>
            <a:ext cx="276606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372F"/>
                </a:solidFill>
              </a:rPr>
              <a:t>провести первые аудиты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81494" y="3131820"/>
            <a:ext cx="164592" cy="164592"/>
          </a:xfrm>
          <a:prstGeom prst="ellipse">
            <a:avLst/>
          </a:prstGeom>
          <a:solidFill>
            <a:srgbClr val="A24F43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251460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372F"/>
                </a:solidFill>
              </a:rPr>
              <a:t>После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3456432"/>
            <a:ext cx="276606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372F"/>
                </a:solidFill>
              </a:rPr>
              <a:t>собрать подтверждённые кейсы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47554" y="3131820"/>
            <a:ext cx="164592" cy="164592"/>
          </a:xfrm>
          <a:prstGeom prst="ellipse">
            <a:avLst/>
          </a:prstGeom>
          <a:solidFill>
            <a:srgbClr val="A24F43"/>
          </a:solidFill>
          <a:ln/>
        </p:spPr>
      </p:sp>
      <p:sp>
        <p:nvSpPr>
          <p:cNvPr id="15" name="Text 13"/>
          <p:cNvSpPr/>
          <p:nvPr/>
        </p:nvSpPr>
        <p:spPr>
          <a:xfrm>
            <a:off x="8846820" y="251460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372F"/>
                </a:solidFill>
              </a:rPr>
              <a:t>Затем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46820" y="3456432"/>
            <a:ext cx="276606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372F"/>
                </a:solidFill>
              </a:rPr>
              <a:t>масштабировать повторяемый процесс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orsys_v032/qorsys-presentation-studio-v0.3.2/qorsys-source/showcase/assets/images/nature.png">    </p:cNvPr>
          <p:cNvPicPr>
            <a:picLocks noChangeAspect="1"/>
          </p:cNvPicPr>
          <p:nvPr/>
        </p:nvPicPr>
        <p:blipFill>
          <a:blip r:embed="rId1"/>
          <a:srcRect l="98" r="98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40142" cy="6858000"/>
          </a:xfrm>
          <a:prstGeom prst="rect">
            <a:avLst/>
          </a:prstGeom>
          <a:solidFill>
            <a:srgbClr val="FCFDFB">
              <a:alpha val="95000"/>
            </a:srgbClr>
          </a:solidFill>
          <a:ln w="12700">
            <a:solidFill>
              <a:srgbClr val="FCFDFB">
                <a:alpha val="0"/>
              </a:srgbClr>
            </a:solidFill>
            <a:prstDash val="solid"/>
          </a:ln>
        </p:spPr>
      </p:sp>
      <p:pic>
        <p:nvPicPr>
          <p:cNvPr id="4" name="Image 1" descr="/mnt/data/qorsys_v032/qorsys-presentation-studio-v0.3.2/qorsys-source/showcase/assets/logos/korsis-horizontal-tagline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10332720" y="548640"/>
            <a:ext cx="128016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828800"/>
            <a:ext cx="11064240" cy="164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8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Следующий шаг — инвестиционный due diligence по продукту, продажам и доказательствам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48640" y="367741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961"/>
                </a:solidFill>
              </a:rPr>
              <a:t>Согласовать список вопросов, материалы и критерии следующего решения.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961"/>
                </a:solidFill>
              </a:rPr>
              <a:t>QORSYS · Работа бизнеса. Под контролем.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138160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372F">
                    <a:alpha val="72000"/>
                  </a:srgbClr>
                </a:solidFill>
              </a:rPr>
              <a:t>Иллюстративное изображение · QORSYS Design System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policy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17904"/>
            <a:ext cx="1280160" cy="41148"/>
          </a:xfrm>
          <a:prstGeom prst="rect">
            <a:avLst/>
          </a:prstGeom>
          <a:solidFill>
            <a:srgbClr val="A24F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11064240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8372F"/>
                </a:solidFill>
              </a:rPr>
              <a:t>Публичный тезис допускается только при наличии основания.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8372F"/>
                </a:solidFill>
              </a:rPr>
              <a:t>Без реальных кейсов не заявляем проценты сокращения ФОТ, экономию или срок окупаемости.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8372F"/>
                </a:solidFill>
              </a:rPr>
              <a:t>Рыночная гипотеза маркируется как гипотеза.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Источники E2E-сценария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17904"/>
            <a:ext cx="1280160" cy="41148"/>
          </a:xfrm>
          <a:prstGeom prst="rect">
            <a:avLst/>
          </a:prstGeom>
          <a:solidFill>
            <a:srgbClr val="A24F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11064240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8372F"/>
                </a:solidFill>
              </a:rPr>
              <a:t>QORSYS Аудит: типовой срок 10–20 рабочих дней для одного согласованного контура.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8372F"/>
                </a:solidFill>
              </a:rPr>
              <a:t>Выход аудита включает первый 90-дневный проект изменения.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8372F"/>
                </a:solidFill>
              </a:rPr>
              <a:t>Рабочий первый сегмент: примерно 40–1000 сотрудников и 20–300+ цифровых/офисных рабочих мест.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8372F"/>
                </a:solidFill>
              </a:rPr>
              <a:t>Продуктовая архитектура включает 8 именованных слоёв от Наблюдения до Управления.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8372F"/>
                </a:solidFill>
              </a:rPr>
              <a:t>Источник: QORSYS Brand Core v1.0 · сентябрь 2026.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533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372F">
                    <a:alpha val="60000"/>
                  </a:srgbClr>
                </a:solidFill>
              </a:rPr>
              <a:t>QORSYS Brand Core, 2026-09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QORSYS — Investor E2E presentation (read)</dc:title>
  <dc:subject>PptxGenJS Presentation</dc:subject>
  <dc:creator>QORSYS — Investor E2E</dc:creator>
  <cp:lastModifiedBy>QORSYS — Investor E2E</cp:lastModifiedBy>
  <cp:revision>1</cp:revision>
  <dcterms:created xsi:type="dcterms:W3CDTF">2026-09-28T05:56:40Z</dcterms:created>
  <dcterms:modified xsi:type="dcterms:W3CDTF">2026-09-28T05:56:40Z</dcterms:modified>
</cp:coreProperties>
</file>